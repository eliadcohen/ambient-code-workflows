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4495E"/>
                </a:solidFill>
              </a:defRPr>
            </a:pPr>
            <a:r>
              <a:t>Automated CVE Remediation for RHOAI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400">
                <a:solidFill>
                  <a:srgbClr val="34495E"/>
                </a:solidFill>
              </a:defRPr>
            </a:pPr>
            <a:r>
              <a:t>Automate CVE discovery and remediation across OpenShift AI components. Bridge Jira issue tracking with GitHub fixes, reducing manual security work while ensuring consistent, well-documented patches across repositories.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4495E"/>
                </a:solidFill>
              </a:defRPr>
            </a:pPr>
            <a:r>
              <a:t>CVE Workflow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1828800" cy="1005840"/>
          </a:xfrm>
          <a:prstGeom prst="roundRect">
            <a:avLst/>
          </a:prstGeom>
          <a:solidFill>
            <a:srgbClr val="2980B9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Jira</a:t>
            </a:r>
          </a:p>
          <a:p>
            <a:r>
              <a:t>CVE Issues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097280"/>
            <a:ext cx="1828800" cy="1005840"/>
          </a:xfrm>
          <a:prstGeom prst="roundRect">
            <a:avLst/>
          </a:prstGeom>
          <a:solidFill>
            <a:srgbClr val="27AE6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Component</a:t>
            </a:r>
          </a:p>
          <a:p>
            <a:r>
              <a:t>Mappings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097280"/>
            <a:ext cx="1828800" cy="1005840"/>
          </a:xfrm>
          <a:prstGeom prst="roundRect">
            <a:avLst/>
          </a:prstGeom>
          <a:solidFill>
            <a:srgbClr val="E67E22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CVE Fix</a:t>
            </a:r>
          </a:p>
          <a:p>
            <a:r>
              <a:t>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097280"/>
            <a:ext cx="1828800" cy="1005840"/>
          </a:xfrm>
          <a:prstGeom prst="roundRect">
            <a:avLst/>
          </a:prstGeom>
          <a:solidFill>
            <a:srgbClr val="8E44AD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GitHub</a:t>
            </a:r>
          </a:p>
          <a:p>
            <a:r>
              <a:t>Pull Requests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377440"/>
            <a:ext cx="1828800" cy="1645920"/>
          </a:xfrm>
          <a:prstGeom prst="roundRect">
            <a:avLst/>
          </a:prstGeom>
          <a:solidFill>
            <a:srgbClr val="AED6F1"/>
          </a:solidFill>
          <a:ln w="1905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2980B9"/>
                </a:solidFill>
              </a:defRPr>
            </a:pPr>
            <a:r>
              <a:t>/cve.find</a:t>
            </a:r>
          </a:p>
          <a:p>
            <a:pPr algn="l">
              <a:defRPr sz="1000">
                <a:solidFill>
                  <a:srgbClr val="34495E"/>
                </a:solidFill>
              </a:defRPr>
            </a:pPr>
            <a:r>
              <a:t>• Query Jira</a:t>
            </a:r>
            <a:br/>
            <a:r>
              <a:t>• Extract CVE IDs</a:t>
            </a:r>
            <a:br/>
            <a:r>
              <a:t>• Generate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377440"/>
            <a:ext cx="1828800" cy="1645920"/>
          </a:xfrm>
          <a:prstGeom prst="roundRect">
            <a:avLst/>
          </a:prstGeom>
          <a:solidFill>
            <a:srgbClr val="A9DFB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spcAft>
                <a:spcPts val="600"/>
              </a:spcAft>
              <a:defRPr sz="1300" b="1">
                <a:solidFill>
                  <a:srgbClr val="27AE60"/>
                </a:solidFill>
              </a:defRPr>
            </a:pPr>
            <a:r>
              <a:t>mappings.json</a:t>
            </a:r>
          </a:p>
          <a:p>
            <a:pPr algn="l">
              <a:defRPr sz="1000">
                <a:solidFill>
                  <a:srgbClr val="34495E"/>
                </a:solidFill>
              </a:defRPr>
            </a:pPr>
            <a:r>
              <a:t>• Component → Repo</a:t>
            </a:r>
            <a:br/>
            <a:r>
              <a:t>• Branch strategy</a:t>
            </a:r>
            <a:br/>
            <a:r>
              <a:t>• Backport targets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377440"/>
            <a:ext cx="1828800" cy="1645920"/>
          </a:xfrm>
          <a:prstGeom prst="roundRect">
            <a:avLst/>
          </a:prstGeom>
          <a:solidFill>
            <a:srgbClr val="FADBD8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E67E22"/>
                </a:solidFill>
              </a:defRPr>
            </a:pPr>
            <a:r>
              <a:t>/cve.fix</a:t>
            </a:r>
          </a:p>
          <a:p>
            <a:pPr algn="l">
              <a:defRPr sz="1000">
                <a:solidFill>
                  <a:srgbClr val="34495E"/>
                </a:solidFill>
              </a:defRPr>
            </a:pPr>
            <a:r>
              <a:t>• Verify presence</a:t>
            </a:r>
            <a:br/>
            <a:r>
              <a:t>• Analyze deps</a:t>
            </a:r>
            <a:br/>
            <a:r>
              <a:t>• Update locks</a:t>
            </a:r>
            <a:br/>
            <a:r>
              <a:t>• Breaking changes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377440"/>
            <a:ext cx="1828800" cy="1645920"/>
          </a:xfrm>
          <a:prstGeom prst="roundRect">
            <a:avLst/>
          </a:prstGeom>
          <a:solidFill>
            <a:srgbClr val="D7BDE2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8E44AD"/>
                </a:solidFill>
              </a:defRPr>
            </a:pPr>
            <a:r>
              <a:t>Auto PRs</a:t>
            </a:r>
          </a:p>
          <a:p>
            <a:pPr algn="l">
              <a:defRPr sz="1000">
                <a:solidFill>
                  <a:srgbClr val="34495E"/>
                </a:solidFill>
              </a:defRPr>
            </a:pPr>
            <a:r>
              <a:t>• Main branch</a:t>
            </a:r>
            <a:br/>
            <a:r>
              <a:t>• Backport branches</a:t>
            </a:r>
            <a:br/>
            <a:r>
              <a:t>• Test plan</a:t>
            </a:r>
            <a:br/>
            <a:r>
              <a:t>• Risk analysis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4560" y="1600200.0"/>
            <a:ext cx="365760" cy="0.0"/>
          </a:xfrm>
          <a:prstGeom prst="line">
            <a:avLst/>
          </a:prstGeom>
          <a:ln w="508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389120" y="1600200.0"/>
            <a:ext cx="365760" cy="0.0"/>
          </a:xfrm>
          <a:prstGeom prst="line">
            <a:avLst/>
          </a:prstGeom>
          <a:ln w="508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0" y="1600200.0"/>
            <a:ext cx="365760" cy="0.0"/>
          </a:xfrm>
          <a:prstGeom prst="line">
            <a:avLst/>
          </a:prstGeom>
          <a:ln w="508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5760" y="4754880"/>
            <a:ext cx="8412480" cy="1645920"/>
          </a:xfrm>
          <a:prstGeom prst="roundRect">
            <a:avLst/>
          </a:prstGeom>
          <a:solidFill>
            <a:srgbClr val="ECF0F1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34495E"/>
                </a:solidFill>
              </a:defRPr>
            </a:pPr>
            <a:r>
              <a:t>Key Capabilities</a:t>
            </a:r>
          </a:p>
          <a:p>
            <a:pPr>
              <a:spcAft>
                <a:spcPts val="400"/>
              </a:spcAft>
              <a:defRPr sz="1000">
                <a:solidFill>
                  <a:srgbClr val="34495E"/>
                </a:solidFill>
              </a:defRPr>
            </a:pPr>
            <a:r>
              <a:t>✓ Monorepo support with multiple packages    ✓ Mixed package managers (uv, poetry, npm)    ✓ Dual lock file management</a:t>
            </a:r>
          </a:p>
          <a:p>
            <a:pPr>
              <a:defRPr sz="1000">
                <a:solidFill>
                  <a:srgbClr val="34495E"/>
                </a:solidFill>
              </a:defRPr>
            </a:pPr>
            <a:r>
              <a:t>✓ Breaking change analysis    ✓ Dependency compatibility checks    ✓ User confirmation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4495E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E67E22"/>
                </a:solidFill>
              </a:defRPr>
            </a:pPr>
            <a:r>
              <a:t>Collaboration</a:t>
            </a:r>
          </a:p>
          <a:p>
            <a:pPr>
              <a:lnSpc>
                <a:spcPct val="130000"/>
              </a:lnSpc>
              <a:spcAft>
                <a:spcPts val="2000"/>
              </a:spcAft>
              <a:defRPr sz="1800">
                <a:solidFill>
                  <a:srgbClr val="34495E"/>
                </a:solidFill>
              </a:defRPr>
            </a:pPr>
            <a:r>
              <a:t>Work with existing OpenShift AI component teams to adopt and refine the workflow.</a:t>
            </a:r>
          </a:p>
          <a:p>
            <a:pPr>
              <a:spcAft>
                <a:spcPts val="1000"/>
              </a:spcAft>
              <a:defRPr sz="2400" b="1">
                <a:solidFill>
                  <a:srgbClr val="8E44AD"/>
                </a:solidFill>
              </a:defRPr>
            </a:pPr>
            <a:r>
              <a:t>Self-Learning</a:t>
            </a:r>
          </a:p>
          <a:p>
            <a:pPr>
              <a:lnSpc>
                <a:spcPct val="130000"/>
              </a:lnSpc>
              <a:defRPr sz="1800">
                <a:solidFill>
                  <a:srgbClr val="34495E"/>
                </a:solidFill>
              </a:defRPr>
            </a:pPr>
            <a:r>
              <a:t>Workflow analyzes merged and rejected PRs to learn optimal fix patterns, avoid failed approaches, and continuously improve CVE remediation strategies.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